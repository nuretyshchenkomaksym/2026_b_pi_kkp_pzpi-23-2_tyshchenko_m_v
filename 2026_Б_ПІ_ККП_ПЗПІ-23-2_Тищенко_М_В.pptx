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Inter"/>
      <p:regular r:id="rId19"/>
      <p:bold r:id="rId20"/>
      <p:italic r:id="rId21"/>
      <p:boldItalic r:id="rId22"/>
    </p:embeddedFont>
    <p:embeddedFont>
      <p:font typeface="Outfit"/>
      <p:regular r:id="rId23"/>
      <p:bold r:id="rId24"/>
    </p:embeddedFont>
    <p:embeddedFont>
      <p:font typeface="Inter Medium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095E864-3687-45E8-B0C3-852A90300C74}">
  <a:tblStyle styleId="{1095E864-3687-45E8-B0C3-852A90300C7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Outfit-bold.fntdata"/><Relationship Id="rId23" Type="http://schemas.openxmlformats.org/officeDocument/2006/relationships/font" Target="fonts/Outfi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Medium-bold.fntdata"/><Relationship Id="rId25" Type="http://schemas.openxmlformats.org/officeDocument/2006/relationships/font" Target="fonts/InterMedium-regular.fntdata"/><Relationship Id="rId28" Type="http://schemas.openxmlformats.org/officeDocument/2006/relationships/font" Target="fonts/InterMedium-boldItalic.fntdata"/><Relationship Id="rId27" Type="http://schemas.openxmlformats.org/officeDocument/2006/relationships/font" Target="fonts/Inter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14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image" Target="../media/image7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Relationship Id="rId7" Type="http://schemas.openxmlformats.org/officeDocument/2006/relationships/image" Target="../media/image1.png"/><Relationship Id="rId8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png"/><Relationship Id="rId10" Type="http://schemas.openxmlformats.org/officeDocument/2006/relationships/image" Target="../media/image20.png"/><Relationship Id="rId13" Type="http://schemas.openxmlformats.org/officeDocument/2006/relationships/image" Target="../media/image7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22.png"/><Relationship Id="rId7" Type="http://schemas.openxmlformats.org/officeDocument/2006/relationships/image" Target="../media/image16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27.png"/><Relationship Id="rId9" Type="http://schemas.openxmlformats.org/officeDocument/2006/relationships/image" Target="../media/image41.png"/><Relationship Id="rId5" Type="http://schemas.openxmlformats.org/officeDocument/2006/relationships/image" Target="../media/image46.png"/><Relationship Id="rId6" Type="http://schemas.openxmlformats.org/officeDocument/2006/relationships/image" Target="../media/image18.png"/><Relationship Id="rId7" Type="http://schemas.openxmlformats.org/officeDocument/2006/relationships/image" Target="../media/image23.png"/><Relationship Id="rId8" Type="http://schemas.openxmlformats.org/officeDocument/2006/relationships/image" Target="../media/image3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9.png"/><Relationship Id="rId4" Type="http://schemas.openxmlformats.org/officeDocument/2006/relationships/image" Target="../media/image43.png"/><Relationship Id="rId9" Type="http://schemas.openxmlformats.org/officeDocument/2006/relationships/image" Target="../media/image7.png"/><Relationship Id="rId5" Type="http://schemas.openxmlformats.org/officeDocument/2006/relationships/image" Target="../media/image29.png"/><Relationship Id="rId6" Type="http://schemas.openxmlformats.org/officeDocument/2006/relationships/image" Target="../media/image38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48.png"/><Relationship Id="rId5" Type="http://schemas.openxmlformats.org/officeDocument/2006/relationships/image" Target="../media/image44.png"/><Relationship Id="rId6" Type="http://schemas.openxmlformats.org/officeDocument/2006/relationships/image" Target="../media/image42.png"/><Relationship Id="rId7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30.png"/><Relationship Id="rId5" Type="http://schemas.openxmlformats.org/officeDocument/2006/relationships/image" Target="../media/image28.png"/><Relationship Id="rId6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47.png"/><Relationship Id="rId9" Type="http://schemas.openxmlformats.org/officeDocument/2006/relationships/image" Target="../media/image7.png"/><Relationship Id="rId5" Type="http://schemas.openxmlformats.org/officeDocument/2006/relationships/image" Target="../media/image45.png"/><Relationship Id="rId6" Type="http://schemas.openxmlformats.org/officeDocument/2006/relationships/image" Target="../media/image37.png"/><Relationship Id="rId7" Type="http://schemas.openxmlformats.org/officeDocument/2006/relationships/image" Target="../media/image36.png"/><Relationship Id="rId8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48.png"/><Relationship Id="rId5" Type="http://schemas.openxmlformats.org/officeDocument/2006/relationships/image" Target="../media/image40.png"/><Relationship Id="rId6" Type="http://schemas.openxmlformats.org/officeDocument/2006/relationships/image" Target="../media/image31.png"/><Relationship Id="rId7" Type="http://schemas.openxmlformats.org/officeDocument/2006/relationships/image" Target="../media/image52.png"/><Relationship Id="rId8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49.png"/><Relationship Id="rId5" Type="http://schemas.openxmlformats.org/officeDocument/2006/relationships/image" Target="../media/image51.png"/><Relationship Id="rId6" Type="http://schemas.openxmlformats.org/officeDocument/2006/relationships/image" Target="../media/image50.png"/><Relationship Id="rId7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56670"/>
            <a:ext cx="11049000" cy="16554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25187" y="6267450"/>
            <a:ext cx="785812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72613" y="1666939"/>
            <a:ext cx="11601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ТЕМА: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17788" y="1944814"/>
            <a:ext cx="116016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Приватний месенджер для локальної мережі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48838" y="3470218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Програмна система обміну повідомленнями MTMessenger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48838" y="3977795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Inter Medium"/>
                <a:ea typeface="Inter Medium"/>
                <a:cs typeface="Inter Medium"/>
                <a:sym typeface="Inter Medium"/>
              </a:rPr>
              <a:t>Клієнт-серверний додаток для безпечної комунікації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594400" y="4947195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Виконав студент: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3594400" y="5411985"/>
            <a:ext cx="5048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Тищенко Максим Владиславович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Група: ПЗПІ-23-2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969800" y="4947195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Керівник: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969800" y="5411985"/>
            <a:ext cx="5048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Гребенюк В.О.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ст.викл. каф. ПІ</a:t>
            </a:r>
            <a:endParaRPr/>
          </a:p>
        </p:txBody>
      </p:sp>
      <p:pic>
        <p:nvPicPr>
          <p:cNvPr id="95" name="Google Shape;95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8850" y="427388"/>
            <a:ext cx="333375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267950" y="274975"/>
            <a:ext cx="135255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22575" y="253788"/>
            <a:ext cx="2819100" cy="9567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/>
          <p:nvPr/>
        </p:nvSpPr>
        <p:spPr>
          <a:xfrm>
            <a:off x="5172150" y="6341250"/>
            <a:ext cx="1847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15 червня 2026</a:t>
            </a:r>
            <a:endParaRPr b="1" sz="15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D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95512"/>
            <a:ext cx="5334000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95512"/>
            <a:ext cx="5334000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96612" y="6267450"/>
            <a:ext cx="814387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4907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866775" y="3062287"/>
            <a:ext cx="498062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Актуальність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66775" y="3538537"/>
            <a:ext cx="4743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Зростаюча потреба у швидких та захищених корпоративних і приватних месенджерах, що не залежать від публічних хмарних сервісів. Забезпечення повного контролю над даними в межах локальної інфраструктури.</a:t>
            </a:r>
            <a:endParaRPr/>
          </a:p>
        </p:txBody>
      </p:sp>
      <p:pic>
        <p:nvPicPr>
          <p:cNvPr descr="image.png" id="110" name="Google Shape;11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10350" y="24907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6610350" y="3062287"/>
            <a:ext cx="495061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Завдання проєкту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696075" y="34909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800850" y="3490912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Сформувати технічні вимоги до системи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696075" y="37957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800850" y="3795712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Спроєктувати гнучку архітектуру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696075" y="41005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800850" y="4100512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Реалізувати сервер обробки та клієнт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696075" y="44053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800850" y="4405312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Налаштувати та оптимізувати БД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Мета та завдання роботи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208425" y="366700"/>
            <a:ext cx="135255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D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7325"/>
            <a:ext cx="542925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1457325"/>
            <a:ext cx="542925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86225"/>
            <a:ext cx="542925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1250" y="4086225"/>
            <a:ext cx="542925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996612" y="6267450"/>
            <a:ext cx="814387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6775" y="175260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866775" y="2324100"/>
            <a:ext cx="508063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Приватність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66775" y="2800350"/>
            <a:ext cx="4838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Ризики витоку даних при використанні зовнішніх серверів.</a:t>
            </a:r>
            <a:endParaRPr/>
          </a:p>
        </p:txBody>
      </p:sp>
      <p:pic>
        <p:nvPicPr>
          <p:cNvPr descr="image.png" id="136" name="Google Shape;13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86525" y="17526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 txBox="1"/>
          <p:nvPr/>
        </p:nvSpPr>
        <p:spPr>
          <a:xfrm>
            <a:off x="6486525" y="2324100"/>
            <a:ext cx="508063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Затримки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6486525" y="2800350"/>
            <a:ext cx="4838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Висока latency при великій кількості одночасних підключень.</a:t>
            </a:r>
            <a:endParaRPr/>
          </a:p>
        </p:txBody>
      </p:sp>
      <p:pic>
        <p:nvPicPr>
          <p:cNvPr descr="image.png" id="139" name="Google Shape;139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6775" y="438150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/>
          <p:nvPr/>
        </p:nvSpPr>
        <p:spPr>
          <a:xfrm>
            <a:off x="866775" y="4953000"/>
            <a:ext cx="508063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Залежність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866775" y="5429250"/>
            <a:ext cx="4838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Прив'язка до пропрієтарних екосистем (Vendor lock-in).</a:t>
            </a:r>
            <a:endParaRPr/>
          </a:p>
        </p:txBody>
      </p:sp>
      <p:pic>
        <p:nvPicPr>
          <p:cNvPr descr="image.png" id="142" name="Google Shape;142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86525" y="438150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 txBox="1"/>
          <p:nvPr/>
        </p:nvSpPr>
        <p:spPr>
          <a:xfrm>
            <a:off x="6486525" y="4953000"/>
            <a:ext cx="508063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Кастомізація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6486525" y="5429250"/>
            <a:ext cx="4838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Неможливість адаптації існуючих рішень під потреби бізнесу.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Аналіз ключових проблем</a:t>
            </a:r>
            <a:endParaRPr/>
          </a:p>
        </p:txBody>
      </p:sp>
      <p:sp>
        <p:nvSpPr>
          <p:cNvPr id="146" name="Google Shape;146;p15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458450" y="352413"/>
            <a:ext cx="135255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D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87087" y="6267450"/>
            <a:ext cx="823912" cy="304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4" name="Google Shape;154;p16"/>
          <p:cNvGraphicFramePr/>
          <p:nvPr/>
        </p:nvGraphicFramePr>
        <p:xfrm>
          <a:off x="571500" y="25812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{1095E864-3687-45E8-B0C3-852A90300C74}</a:tableStyleId>
              </a:tblPr>
              <a:tblGrid>
                <a:gridCol w="3121225"/>
                <a:gridCol w="1878200"/>
                <a:gridCol w="2030175"/>
                <a:gridCol w="1408650"/>
                <a:gridCol w="2610750"/>
              </a:tblGrid>
              <a:tr h="55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Критерій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Telegram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WhatsApp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Signal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MTMessenger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Open Source Server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✕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✕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Self-hosted розгортання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✕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✕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✕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Легковажність клієнта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✕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Наскрізне шифрування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5" name="Google Shape;155;p16"/>
          <p:cNvSpPr/>
          <p:nvPr/>
        </p:nvSpPr>
        <p:spPr>
          <a:xfrm>
            <a:off x="571500" y="3167062"/>
            <a:ext cx="312122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3692723" y="3167062"/>
            <a:ext cx="187821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5570934" y="3167062"/>
            <a:ext cx="203016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7601098" y="3167062"/>
            <a:ext cx="14086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9009757" y="3167062"/>
            <a:ext cx="26107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571500" y="3709987"/>
            <a:ext cx="312122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3692723" y="3709987"/>
            <a:ext cx="187821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5570934" y="3709987"/>
            <a:ext cx="203016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7601098" y="3709987"/>
            <a:ext cx="14086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9009757" y="3709987"/>
            <a:ext cx="26107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571500" y="4252912"/>
            <a:ext cx="312122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3692723" y="4252912"/>
            <a:ext cx="187821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5570934" y="4252912"/>
            <a:ext cx="203016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7601098" y="4252912"/>
            <a:ext cx="14086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9009757" y="4252912"/>
            <a:ext cx="26107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571500" y="4795837"/>
            <a:ext cx="312122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3692723" y="4795837"/>
            <a:ext cx="187821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5570934" y="4795837"/>
            <a:ext cx="203016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7601098" y="4795837"/>
            <a:ext cx="14086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9009757" y="4795837"/>
            <a:ext cx="26107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571500" y="5338762"/>
            <a:ext cx="312122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3692723" y="5338762"/>
            <a:ext cx="187821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5570934" y="5338762"/>
            <a:ext cx="203016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7601098" y="5338762"/>
            <a:ext cx="14086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9009757" y="5338762"/>
            <a:ext cx="26107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Аналіз існуючих рішень</a:t>
            </a: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67950" y="366700"/>
            <a:ext cx="135255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D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47912"/>
            <a:ext cx="34924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347912"/>
            <a:ext cx="3492549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347912"/>
            <a:ext cx="34924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96612" y="6267450"/>
            <a:ext cx="814387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26431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7"/>
          <p:cNvSpPr txBox="1"/>
          <p:nvPr/>
        </p:nvSpPr>
        <p:spPr>
          <a:xfrm>
            <a:off x="866775" y="3214687"/>
            <a:ext cx="3046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Клієнтський </a:t>
            </a:r>
            <a:r>
              <a:rPr b="1" lang="en-US" sz="180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додаток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866775" y="3690923"/>
            <a:ext cx="29019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Система чатів, інтерактивність, сповіщення, безпека</a:t>
            </a:r>
            <a:endParaRPr sz="1600"/>
          </a:p>
        </p:txBody>
      </p:sp>
      <p:pic>
        <p:nvPicPr>
          <p:cNvPr descr="image.png" id="195" name="Google Shape;19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44925" y="26431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7"/>
          <p:cNvSpPr txBox="1"/>
          <p:nvPr/>
        </p:nvSpPr>
        <p:spPr>
          <a:xfrm>
            <a:off x="4644925" y="3214687"/>
            <a:ext cx="304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Архітектура системи 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4644925" y="3690937"/>
            <a:ext cx="2901900" cy="15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Клієнт-серверна архітектура (протокол TCP/IP, сокети), Модульність через Shared-бібліотеку та незалежні сервіси Server/Client.</a:t>
            </a:r>
            <a:endParaRPr sz="1300"/>
          </a:p>
        </p:txBody>
      </p:sp>
      <p:pic>
        <p:nvPicPr>
          <p:cNvPr descr="image.png" id="198" name="Google Shape;198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23225" y="264318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7"/>
          <p:cNvSpPr txBox="1"/>
          <p:nvPr/>
        </p:nvSpPr>
        <p:spPr>
          <a:xfrm>
            <a:off x="8423225" y="3214687"/>
            <a:ext cx="3046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Ключові інженерні рішення 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8423225" y="3690937"/>
            <a:ext cx="2901900" cy="15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Стабільність мережі, асинхронна робота сервера (обслуговування клієнтів) та неблокуючий UI клієнта, гнучка система доставки повідомлень.</a:t>
            </a:r>
            <a:endParaRPr sz="1300"/>
          </a:p>
        </p:txBody>
      </p:sp>
      <p:sp>
        <p:nvSpPr>
          <p:cNvPr id="201" name="Google Shape;201;p17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Загальний опис системи</a:t>
            </a:r>
            <a:endParaRPr/>
          </a:p>
        </p:txBody>
      </p:sp>
      <p:sp>
        <p:nvSpPr>
          <p:cNvPr id="202" name="Google Shape;202;p17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1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117475" y="366700"/>
            <a:ext cx="135255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D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6612" y="6267450"/>
            <a:ext cx="814387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253365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10337" y="253365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46386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10337" y="463867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8"/>
          <p:cNvSpPr txBox="1"/>
          <p:nvPr/>
        </p:nvSpPr>
        <p:spPr>
          <a:xfrm>
            <a:off x="1533525" y="2181225"/>
            <a:ext cx="435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Стек технологій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1533525" y="2657475"/>
            <a:ext cx="4148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C#, .NET, WPF (інтерфейс), JSON-серіалізація (обмін даними) 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7034212" y="2181225"/>
            <a:ext cx="4505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Клієнтська частина (Client) 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7034212" y="2657475"/>
            <a:ext cx="4290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Фреймворк графічного інтерфейсу: WPF (Windows Presentation Foundation)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1533525" y="4286250"/>
            <a:ext cx="435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Серверна частина та Мережа 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1533525" y="4762500"/>
            <a:ext cx="41481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Мережевий протокол: TCP/IP (робота з «сирими» сокетами через класи TcpListener та TcpClient простору імен System.Net.Sockets)</a:t>
            </a:r>
            <a:endParaRPr sz="1300"/>
          </a:p>
        </p:txBody>
      </p:sp>
      <p:sp>
        <p:nvSpPr>
          <p:cNvPr id="220" name="Google Shape;220;p18"/>
          <p:cNvSpPr txBox="1"/>
          <p:nvPr/>
        </p:nvSpPr>
        <p:spPr>
          <a:xfrm>
            <a:off x="7177087" y="4286250"/>
            <a:ext cx="435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Архітектура та підходи 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7177087" y="4762500"/>
            <a:ext cx="41481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Клієнт-Серверна архітектура (Client-Server), асинхронне програмування, патерн «Стратегія».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Технологічний стек проєкту</a:t>
            </a:r>
            <a:endParaRPr/>
          </a:p>
        </p:txBody>
      </p:sp>
      <p:sp>
        <p:nvSpPr>
          <p:cNvPr id="223" name="Google Shape;223;p18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267950" y="366713"/>
            <a:ext cx="135255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D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66912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06137" y="6267450"/>
            <a:ext cx="804862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9"/>
          <p:cNvSpPr txBox="1"/>
          <p:nvPr/>
        </p:nvSpPr>
        <p:spPr>
          <a:xfrm>
            <a:off x="571500" y="1966912"/>
            <a:ext cx="560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Клієнт-серверна модель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571500" y="2386012"/>
            <a:ext cx="5334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Система 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реалізована централізована дволанкова клієнт-серверна модель зі збереженням стану (Stateful) на базі TCP-сокетів.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Це забезпечує:</a:t>
            </a:r>
            <a:endParaRPr/>
          </a:p>
        </p:txBody>
      </p:sp>
      <p:pic>
        <p:nvPicPr>
          <p:cNvPr descr="image.png" id="234" name="Google Shape;23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6025" y="1976437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9"/>
          <p:cNvSpPr txBox="1"/>
          <p:nvPr/>
        </p:nvSpPr>
        <p:spPr>
          <a:xfrm>
            <a:off x="847725" y="34909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952500" y="3490912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Збереження стану (Stateful Connection)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847725" y="37957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952500" y="3795712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Централізована топологія (Зірка)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847725" y="41005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952500" y="4100512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"Товстий клієнт" (Thick / Fat Client) 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Архітектура програмного забезпечення</a:t>
            </a:r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842963" y="4331512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952488" y="4331512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Контрактна взаємодія (Shared Data Contract) 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  <p:pic>
        <p:nvPicPr>
          <p:cNvPr id="245" name="Google Shape;245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58450" y="366700"/>
            <a:ext cx="135255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D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6612" y="6267450"/>
            <a:ext cx="814387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0"/>
          <p:cNvSpPr txBox="1"/>
          <p:nvPr/>
        </p:nvSpPr>
        <p:spPr>
          <a:xfrm>
            <a:off x="572250" y="981650"/>
            <a:ext cx="5000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Компонентна діаграма</a:t>
            </a:r>
            <a:endParaRPr/>
          </a:p>
        </p:txBody>
      </p:sp>
      <p:sp>
        <p:nvSpPr>
          <p:cNvPr id="253" name="Google Shape;253;p20"/>
          <p:cNvSpPr/>
          <p:nvPr/>
        </p:nvSpPr>
        <p:spPr>
          <a:xfrm>
            <a:off x="381750" y="981650"/>
            <a:ext cx="47700" cy="504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381750" y="1867475"/>
            <a:ext cx="520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Внутрішні сервіси сервера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381750" y="2286563"/>
            <a:ext cx="4572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Архітектурна 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логіка чітко поділена на 5 внутрішніх підсистем (сервісів):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381738" y="3138262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486513" y="3138250"/>
            <a:ext cx="4259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Служба прослуховування з'єднань (Connection Listener) 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381750" y="3920875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486525" y="3920863"/>
            <a:ext cx="4259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Менеджер сесій (Session Manager) </a:t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381750" y="4273100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510338" y="4273100"/>
            <a:ext cx="4572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Диспетчер пакетів (Packet Dispatcher / Handlers)</a:t>
            </a:r>
            <a:endParaRPr/>
          </a:p>
        </p:txBody>
      </p:sp>
      <p:pic>
        <p:nvPicPr>
          <p:cNvPr id="262" name="Google Shape;26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8050" y="1249088"/>
            <a:ext cx="6790401" cy="488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0"/>
          <p:cNvSpPr txBox="1"/>
          <p:nvPr/>
        </p:nvSpPr>
        <p:spPr>
          <a:xfrm>
            <a:off x="381750" y="4903412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510338" y="4903412"/>
            <a:ext cx="4572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Служба маршрутизації (Routing Service) 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381750" y="5184862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6" name="Google Shape;266;p20"/>
          <p:cNvSpPr txBox="1"/>
          <p:nvPr/>
        </p:nvSpPr>
        <p:spPr>
          <a:xfrm>
            <a:off x="510349" y="5184850"/>
            <a:ext cx="4259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Служба стану та системних сповіщень (State &amp; Notification Service) </a:t>
            </a:r>
            <a:endParaRPr/>
          </a:p>
        </p:txBody>
      </p:sp>
      <p:pic>
        <p:nvPicPr>
          <p:cNvPr id="267" name="Google Shape;26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8450" y="200188"/>
            <a:ext cx="135255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D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2" name="Google Shape;27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7325"/>
            <a:ext cx="10753800" cy="47001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96612" y="6267450"/>
            <a:ext cx="814387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1"/>
          <p:cNvSpPr txBox="1"/>
          <p:nvPr/>
        </p:nvSpPr>
        <p:spPr>
          <a:xfrm>
            <a:off x="866775" y="1781175"/>
            <a:ext cx="529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Сервіс обробки (Processing)  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866775" y="2257425"/>
            <a:ext cx="5038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Він відповідає за те, щоб прийняти сирі байти з мережі, розпізнати їх і вирішити, що з ними робити, не перевантажуючи сервер. 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866813" y="3319550"/>
            <a:ext cx="5038800" cy="1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JSON-Десеріалізація.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2. 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Патерн «Стратегія».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3. 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Якщо прилітає тип Connect - пакет автоматично передається в ConnectHandler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4. 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Якщо тип Message — пакет віддається в MessageHandler.</a:t>
            </a:r>
            <a:endParaRPr sz="15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6286500" y="1781175"/>
            <a:ext cx="529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Сервіс маршрутизації (Routing) 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6286500" y="2257425"/>
            <a:ext cx="5038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Він знаходиться всередині MessageHandler та методів класу Server. Його задача — доставити повідомлення правильним адресатам, перевіряючи поле Recipient у пакеті.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Сервіс обробки та маршрутизації</a:t>
            </a:r>
            <a:endParaRPr/>
          </a:p>
        </p:txBody>
      </p:sp>
      <p:sp>
        <p:nvSpPr>
          <p:cNvPr id="281" name="Google Shape;281;p21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6157563" y="3715900"/>
            <a:ext cx="5038800" cy="23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Inter"/>
              <a:buChar char="-"/>
            </a:pPr>
            <a:r>
              <a:rPr lang="en-US"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Широкомовна маршрутизація (Broadcasting): Якщо Recipient == "Global", сервер перебирає весь словник активних підключень Clients і відправляє копію пакета кожному користувачу.</a:t>
            </a:r>
            <a:endParaRPr sz="13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Inter"/>
              <a:buChar char="-"/>
            </a:pPr>
            <a:r>
              <a:rPr lang="en-US"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Приватна маршрутизація (Peer-to-Peer через сервер): Якщо в полі Recipient вказано конкретний нікнейм (наприклад, "Maksym2"), сервер шукає у словнику лише два TCP-сокети: сокет відправника та сокет отримувача.</a:t>
            </a:r>
            <a:endParaRPr sz="13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83" name="Google Shape;28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67950" y="366713"/>
            <a:ext cx="135255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D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04219"/>
            <a:ext cx="2619375" cy="21353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1375" y="2804219"/>
            <a:ext cx="2619375" cy="21353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0" y="2804219"/>
            <a:ext cx="2619375" cy="21353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01125" y="2804219"/>
            <a:ext cx="2619375" cy="21353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920412" y="6267450"/>
            <a:ext cx="890587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2"/>
          <p:cNvSpPr txBox="1"/>
          <p:nvPr/>
        </p:nvSpPr>
        <p:spPr>
          <a:xfrm>
            <a:off x="866775" y="3099494"/>
            <a:ext cx="20288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816054" y="3566219"/>
            <a:ext cx="21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Клієнт-Відправник 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866775" y="4004369"/>
            <a:ext cx="2028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Формування та відправка </a:t>
            </a:r>
            <a:endParaRPr sz="1700"/>
          </a:p>
        </p:txBody>
      </p:sp>
      <p:sp>
        <p:nvSpPr>
          <p:cNvPr id="297" name="Google Shape;297;p22"/>
          <p:cNvSpPr txBox="1"/>
          <p:nvPr/>
        </p:nvSpPr>
        <p:spPr>
          <a:xfrm>
            <a:off x="3676650" y="3099494"/>
            <a:ext cx="20288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3625929" y="3566219"/>
            <a:ext cx="21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Сервер 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3676650" y="4004369"/>
            <a:ext cx="2028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Прийом та розпізнавання </a:t>
            </a:r>
            <a:endParaRPr sz="1600"/>
          </a:p>
        </p:txBody>
      </p:sp>
      <p:sp>
        <p:nvSpPr>
          <p:cNvPr id="300" name="Google Shape;300;p22"/>
          <p:cNvSpPr txBox="1"/>
          <p:nvPr/>
        </p:nvSpPr>
        <p:spPr>
          <a:xfrm>
            <a:off x="6486525" y="3099494"/>
            <a:ext cx="20288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6435804" y="3566219"/>
            <a:ext cx="21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Ядро Сервера </a:t>
            </a:r>
            <a:endParaRPr/>
          </a:p>
        </p:txBody>
      </p:sp>
      <p:sp>
        <p:nvSpPr>
          <p:cNvPr id="302" name="Google Shape;302;p22"/>
          <p:cNvSpPr txBox="1"/>
          <p:nvPr/>
        </p:nvSpPr>
        <p:spPr>
          <a:xfrm>
            <a:off x="6486525" y="4004369"/>
            <a:ext cx="2028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Маршрутизація </a:t>
            </a:r>
            <a:endParaRPr sz="1900"/>
          </a:p>
        </p:txBody>
      </p:sp>
      <p:sp>
        <p:nvSpPr>
          <p:cNvPr id="303" name="Google Shape;303;p22"/>
          <p:cNvSpPr txBox="1"/>
          <p:nvPr/>
        </p:nvSpPr>
        <p:spPr>
          <a:xfrm>
            <a:off x="9296400" y="3099494"/>
            <a:ext cx="20288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/>
          </a:p>
        </p:txBody>
      </p:sp>
      <p:sp>
        <p:nvSpPr>
          <p:cNvPr id="304" name="Google Shape;304;p22"/>
          <p:cNvSpPr txBox="1"/>
          <p:nvPr/>
        </p:nvSpPr>
        <p:spPr>
          <a:xfrm>
            <a:off x="9245679" y="3566219"/>
            <a:ext cx="21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Клієнт-Отримувач </a:t>
            </a:r>
            <a:endParaRPr/>
          </a:p>
        </p:txBody>
      </p:sp>
      <p:sp>
        <p:nvSpPr>
          <p:cNvPr id="305" name="Google Shape;305;p22"/>
          <p:cNvSpPr txBox="1"/>
          <p:nvPr/>
        </p:nvSpPr>
        <p:spPr>
          <a:xfrm>
            <a:off x="9296400" y="4004369"/>
            <a:ext cx="20289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Доставка та відображення </a:t>
            </a:r>
            <a:endParaRPr sz="2000"/>
          </a:p>
        </p:txBody>
      </p:sp>
      <p:sp>
        <p:nvSpPr>
          <p:cNvPr id="306" name="Google Shape;306;p22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Конвеєр обробки повідомлення</a:t>
            </a:r>
            <a:endParaRPr/>
          </a:p>
        </p:txBody>
      </p:sp>
      <p:sp>
        <p:nvSpPr>
          <p:cNvPr id="307" name="Google Shape;307;p22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267950" y="317813"/>
            <a:ext cx="135255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D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3" name="Google Shape;31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2275" y="1766900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68037" y="6267450"/>
            <a:ext cx="842962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3"/>
          <p:cNvSpPr txBox="1"/>
          <p:nvPr/>
        </p:nvSpPr>
        <p:spPr>
          <a:xfrm>
            <a:off x="571500" y="1966912"/>
            <a:ext cx="560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Інтерфейс користувача</a:t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571500" y="2386004"/>
            <a:ext cx="5334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Реалізовано 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Чистий, функціональний дизайн (на базі WPF XAML), орієнтований на зручність читання та швидкість взаємодії без зайвого візуального шуму. 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Основні особливості:</a:t>
            </a:r>
            <a:endParaRPr/>
          </a:p>
        </p:txBody>
      </p:sp>
      <p:sp>
        <p:nvSpPr>
          <p:cNvPr id="318" name="Google Shape;318;p23"/>
          <p:cNvSpPr txBox="1"/>
          <p:nvPr/>
        </p:nvSpPr>
        <p:spPr>
          <a:xfrm>
            <a:off x="571500" y="4769962"/>
            <a:ext cx="5334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Тестування UI підтвердило високу швидкість відгуку.</a:t>
            </a:r>
            <a:endParaRPr/>
          </a:p>
        </p:txBody>
      </p:sp>
      <p:sp>
        <p:nvSpPr>
          <p:cNvPr id="319" name="Google Shape;319;p23"/>
          <p:cNvSpPr txBox="1"/>
          <p:nvPr/>
        </p:nvSpPr>
        <p:spPr>
          <a:xfrm>
            <a:off x="802550" y="3749287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0" name="Google Shape;320;p23"/>
          <p:cNvSpPr txBox="1"/>
          <p:nvPr/>
        </p:nvSpPr>
        <p:spPr>
          <a:xfrm>
            <a:off x="907325" y="3749287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Швидке перемикання між чатами</a:t>
            </a:r>
            <a:endParaRPr/>
          </a:p>
        </p:txBody>
      </p:sp>
      <p:sp>
        <p:nvSpPr>
          <p:cNvPr id="321" name="Google Shape;321;p23"/>
          <p:cNvSpPr txBox="1"/>
          <p:nvPr/>
        </p:nvSpPr>
        <p:spPr>
          <a:xfrm>
            <a:off x="802538" y="4054087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2" name="Google Shape;322;p23"/>
          <p:cNvSpPr txBox="1"/>
          <p:nvPr/>
        </p:nvSpPr>
        <p:spPr>
          <a:xfrm>
            <a:off x="907313" y="4054087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Адаптивність та надійність верстки </a:t>
            </a:r>
            <a:endParaRPr/>
          </a:p>
        </p:txBody>
      </p:sp>
      <p:sp>
        <p:nvSpPr>
          <p:cNvPr id="323" name="Google Shape;323;p23"/>
          <p:cNvSpPr txBox="1"/>
          <p:nvPr/>
        </p:nvSpPr>
        <p:spPr>
          <a:xfrm>
            <a:off x="802538" y="4372562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4" name="Google Shape;324;p23"/>
          <p:cNvSpPr txBox="1"/>
          <p:nvPr/>
        </p:nvSpPr>
        <p:spPr>
          <a:xfrm>
            <a:off x="907313" y="4372562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Покращення користувацького досвіду </a:t>
            </a:r>
            <a:endParaRPr/>
          </a:p>
        </p:txBody>
      </p:sp>
      <p:pic>
        <p:nvPicPr>
          <p:cNvPr descr="image.png" id="325" name="Google Shape;32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8625" y="482711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3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Практична реалізація системи</a:t>
            </a:r>
            <a:endParaRPr/>
          </a:p>
        </p:txBody>
      </p:sp>
      <p:sp>
        <p:nvSpPr>
          <p:cNvPr id="327" name="Google Shape;327;p23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8" name="Google Shape;328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57538" y="1807787"/>
            <a:ext cx="5991927" cy="3728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596925" y="327213"/>
            <a:ext cx="135255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D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4" name="Google Shape;33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14700"/>
            <a:ext cx="11049000" cy="1133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520575"/>
            <a:ext cx="11049000" cy="482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39462" y="6267450"/>
            <a:ext cx="871537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4"/>
          <p:cNvSpPr txBox="1"/>
          <p:nvPr/>
        </p:nvSpPr>
        <p:spPr>
          <a:xfrm>
            <a:off x="771525" y="3514725"/>
            <a:ext cx="10648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Висновок:</a:t>
            </a: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Розроблена система демонструє високу продуктивність та низьке споживання ресурсів при масштабуванні до 1000 активних користувачів одночасно.</a:t>
            </a:r>
            <a:endParaRPr/>
          </a:p>
        </p:txBody>
      </p:sp>
      <p:sp>
        <p:nvSpPr>
          <p:cNvPr id="339" name="Google Shape;339;p24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Аналіз результатів тестування</a:t>
            </a:r>
            <a:endParaRPr/>
          </a:p>
        </p:txBody>
      </p:sp>
      <p:sp>
        <p:nvSpPr>
          <p:cNvPr id="340" name="Google Shape;340;p24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1" name="Google Shape;34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4957950"/>
            <a:ext cx="11049000" cy="1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4"/>
          <p:cNvSpPr txBox="1"/>
          <p:nvPr/>
        </p:nvSpPr>
        <p:spPr>
          <a:xfrm>
            <a:off x="771450" y="5317188"/>
            <a:ext cx="1064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Програмний код: https://github.com/NureTyshchenkoMaksym/2026_B_KKP_PZPI-23-2_Tyshchenko_M_V.git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43" name="Google Shape;343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267950" y="366713"/>
            <a:ext cx="135255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